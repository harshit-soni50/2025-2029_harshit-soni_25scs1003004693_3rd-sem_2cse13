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6318504" cy="66385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3952" y="109728"/>
            <a:ext cx="5605272" cy="66385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3952" y="109728"/>
            <a:ext cx="5605272" cy="6638544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il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658368" cy="7040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3312" y="475488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Poppins"/>
              </a:rPr>
              <a:t>IILM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758952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0F172A"/>
                </a:solidFill>
                <a:latin typeface="Inter"/>
              </a:rPr>
              <a:t>GREATER NOIDA, UTTAR PRADESH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440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E3A8A"/>
                </a:solidFill>
                <a:latin typeface="Poppins"/>
              </a:rPr>
              <a:t>B.TECH (CSE – ARTIFICIAL INTELLIGENCE)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12848"/>
            <a:ext cx="544068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Poppins"/>
              </a:rPr>
              <a:t>AI-Based Student
Performance Predictor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56432"/>
            <a:ext cx="5349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0" b="1">
                <a:solidFill>
                  <a:srgbClr val="0E7490"/>
                </a:solidFill>
                <a:latin typeface="Inter"/>
              </a:rPr>
              <a:t>A C++ Machine Learning Project using k-Nearest Neighbours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138928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Poppins"/>
              </a:rPr>
              <a:t>PROJECT 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413248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Inter"/>
              </a:rPr>
              <a:t>Artificial Intelligence • C++ • Supervised Learning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39712" y="868680"/>
            <a:ext cx="4754880" cy="1463040"/>
          </a:xfrm>
          <a:prstGeom prst="roundRect">
            <a:avLst/>
          </a:prstGeom>
          <a:solidFill>
            <a:srgbClr val="1E294D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10789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60A5FA"/>
                </a:solidFill>
                <a:latin typeface="Poppins"/>
              </a:rPr>
              <a:t>STUDENT CREDENTIALS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389888"/>
            <a:ext cx="4251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Poppins"/>
              </a:rPr>
              <a:t>HARSHIT SONI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874519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CBD5E1"/>
                </a:solidFill>
                <a:latin typeface="Inter"/>
              </a:rPr>
              <a:t>Enrollment / Roll No.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093976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Inter"/>
              </a:rPr>
              <a:t>25SCS1003004693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1874519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CBD5E1"/>
                </a:solidFill>
                <a:latin typeface="Inter"/>
              </a:rPr>
              <a:t>Program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093976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Inter"/>
              </a:rPr>
              <a:t>B.Tech (CSE – AI)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59168" y="5440680"/>
            <a:ext cx="4251960" cy="77724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96912" y="5596128"/>
            <a:ext cx="37490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PROJECT 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6912" y="5788152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>
                <a:solidFill>
                  <a:srgbClr val="FFFFFF"/>
                </a:solidFill>
                <a:latin typeface="Inter"/>
              </a:rPr>
              <a:t>Educational AI Prototype • Local Console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6072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Poppins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78992"/>
            <a:ext cx="105156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74519"/>
            <a:ext cx="5230368" cy="2907792"/>
          </a:xfrm>
          <a:prstGeom prst="rect">
            <a:avLst/>
          </a:prstGeom>
        </p:spPr>
      </p:pic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1874519"/>
            <a:ext cx="5230368" cy="29077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219456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Poppins"/>
              </a:rPr>
              <a:t>Student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79192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Inter"/>
              </a:rPr>
              <a:t>Student Name: </a:t>
            </a:r>
            <a:r>
              <a:rPr sz="1150" b="0">
                <a:solidFill>
                  <a:srgbClr val="334155"/>
                </a:solidFill>
                <a:latin typeface="Inter"/>
              </a:rPr>
              <a:t>HARSHIT SONI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072384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Inter"/>
              </a:rPr>
              <a:t>Roll Number: </a:t>
            </a:r>
            <a:r>
              <a:rPr sz="1150" b="0">
                <a:solidFill>
                  <a:srgbClr val="334155"/>
                </a:solidFill>
                <a:latin typeface="Inter"/>
              </a:rPr>
              <a:t>25SCS1003004693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465576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Inter"/>
              </a:rPr>
              <a:t>Degree: </a:t>
            </a:r>
            <a:r>
              <a:rPr sz="1150" b="0">
                <a:solidFill>
                  <a:srgbClr val="334155"/>
                </a:solidFill>
                <a:latin typeface="Inter"/>
              </a:rPr>
              <a:t>B.Tech (CSE – Artificial Intelligence)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858768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Inter"/>
              </a:rPr>
              <a:t>Academic Batch: </a:t>
            </a:r>
            <a:r>
              <a:rPr sz="1150" b="0">
                <a:solidFill>
                  <a:srgbClr val="334155"/>
                </a:solidFill>
                <a:latin typeface="Inter"/>
              </a:rPr>
              <a:t>2026–2027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251960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Inter"/>
              </a:rPr>
              <a:t>University: </a:t>
            </a:r>
            <a:r>
              <a:rPr sz="1150" b="0">
                <a:solidFill>
                  <a:srgbClr val="334155"/>
                </a:solidFill>
                <a:latin typeface="Inter"/>
              </a:rPr>
              <a:t>IILM University, Greater Noida, U.P.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219456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Poppins"/>
              </a:rPr>
              <a:t>Project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2679192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Inter"/>
              </a:rPr>
              <a:t>Project: </a:t>
            </a:r>
            <a:r>
              <a:rPr sz="1150" b="0">
                <a:solidFill>
                  <a:srgbClr val="334155"/>
                </a:solidFill>
                <a:latin typeface="Inter"/>
              </a:rPr>
              <a:t>AI-Based Student Performance Predictor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3072384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Inter"/>
              </a:rPr>
              <a:t>Language: </a:t>
            </a:r>
            <a:r>
              <a:rPr sz="1150" b="0">
                <a:solidFill>
                  <a:srgbClr val="334155"/>
                </a:solidFill>
                <a:latin typeface="Inter"/>
              </a:rPr>
              <a:t>C++17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3465576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Inter"/>
              </a:rPr>
              <a:t>AI Technique: </a:t>
            </a:r>
            <a:r>
              <a:rPr sz="1150" b="0">
                <a:solidFill>
                  <a:srgbClr val="334155"/>
                </a:solidFill>
                <a:latin typeface="Inter"/>
              </a:rPr>
              <a:t>k-Nearest Neighbours (k-NN)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3858768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Inter"/>
              </a:rPr>
              <a:t>Prediction: </a:t>
            </a:r>
            <a:r>
              <a:rPr sz="1150" b="0">
                <a:solidFill>
                  <a:srgbClr val="334155"/>
                </a:solidFill>
                <a:latin typeface="Inter"/>
              </a:rPr>
              <a:t>Low / Medium / 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8272" y="4251960"/>
            <a:ext cx="4526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Inter"/>
              </a:rPr>
              <a:t>Interface: </a:t>
            </a:r>
            <a:r>
              <a:rPr sz="1150" b="0">
                <a:solidFill>
                  <a:srgbClr val="334155"/>
                </a:solidFill>
                <a:latin typeface="Inter"/>
              </a:rPr>
              <a:t>Menu-driven console 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166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The system takes attendance, daily study hours, previous marks, and assignment completion as inputs, normalizes them, and predicts a student performance category using the nearest labelled examples.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Inter"/>
              </a:rPr>
              <a:t>School of Computer Science &amp; Engineering  •  IILM University, Greater Noida, U.P.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6072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Poppins"/>
              </a:rPr>
              <a:t>Problem Statement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78992"/>
            <a:ext cx="105156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74519"/>
            <a:ext cx="5230368" cy="3474720"/>
          </a:xfrm>
          <a:prstGeom prst="rect">
            <a:avLst/>
          </a:prstGeom>
        </p:spPr>
      </p:pic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1874519"/>
            <a:ext cx="5230368" cy="347472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941832" y="2157984"/>
            <a:ext cx="301752" cy="30175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162556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!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212140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Poppins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633472"/>
            <a:ext cx="453542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0">
                <a:solidFill>
                  <a:srgbClr val="334155"/>
                </a:solidFill>
                <a:latin typeface="Inter"/>
              </a:rPr>
              <a:t>Academic performance is often judged only after exams. A lightweight early-warning tool can use routinely available indicators to estimate whether a student is moving toward Low, Medium, or High performance.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4325112"/>
            <a:ext cx="4535424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334155"/>
                </a:solidFill>
                <a:latin typeface="Inter"/>
              </a:rPr>
              <a:t>The prototype must work locally, validate inputs, normalize different scales, compare records, and explain the result through its nearest neighbours.</a:t>
            </a:r>
          </a:p>
        </p:txBody>
      </p:sp>
      <p:sp>
        <p:nvSpPr>
          <p:cNvPr id="12" name="Oval 11"/>
          <p:cNvSpPr/>
          <p:nvPr/>
        </p:nvSpPr>
        <p:spPr>
          <a:xfrm>
            <a:off x="6757416" y="2157984"/>
            <a:ext cx="301752" cy="30175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2162556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8" y="212140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Poppins"/>
              </a:rPr>
              <a:t>Solution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7416" y="2633472"/>
            <a:ext cx="453542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20" b="0">
                <a:solidFill>
                  <a:srgbClr val="334155"/>
                </a:solidFill>
                <a:latin typeface="Inter"/>
              </a:rPr>
              <a:t>Build a compact C++17 console application that implements k-NN from scratch rather than hiding the logic behind an external machine-learning framework.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7416" y="4325112"/>
            <a:ext cx="4535424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334155"/>
                </a:solidFill>
                <a:latin typeface="Inter"/>
              </a:rPr>
              <a:t>This keeps the AI workflow transparent: input → preprocessing → similarity calculation → neighbour voting → prediction.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Inter"/>
              </a:rPr>
              <a:t>School of Computer Science &amp; Engineering  •  IILM University, Greater Noida, U.P.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6072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Poppins"/>
              </a:rPr>
              <a:t>Core 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78992"/>
            <a:ext cx="105156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65960"/>
            <a:ext cx="2359152" cy="324612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86384" y="2240280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244852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798064"/>
            <a:ext cx="190195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Poppins"/>
              </a:rPr>
              <a:t>Understand ML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447288"/>
            <a:ext cx="190195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Inter"/>
              </a:rPr>
              <a:t>Understand how a supervised classifier works internally instead of treating AI as a black box.</a:t>
            </a:r>
          </a:p>
        </p:txBody>
      </p:sp>
      <p:pic>
        <p:nvPicPr>
          <p:cNvPr id="10" name="Picture 9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816" y="1965960"/>
            <a:ext cx="2359152" cy="324612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3319272" y="2240280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2244852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9272" y="2798064"/>
            <a:ext cx="190195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Poppins"/>
              </a:rPr>
              <a:t>Implement k-NN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3447288"/>
            <a:ext cx="190195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Inter"/>
              </a:rPr>
              <a:t>Implement k-Nearest Neighbours from scratch using C++17 and the Standard Template Library.</a:t>
            </a:r>
          </a:p>
        </p:txBody>
      </p:sp>
      <p:pic>
        <p:nvPicPr>
          <p:cNvPr id="15" name="Picture 14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965960"/>
            <a:ext cx="2359152" cy="324612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5870448" y="2240280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0448" y="2244852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2798064"/>
            <a:ext cx="190195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Poppins"/>
              </a:rPr>
              <a:t>Prepare Fair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0448" y="3447288"/>
            <a:ext cx="190195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Inter"/>
              </a:rPr>
              <a:t>Normalize attendance, study hours, marks, and assignments so different scales contribute fairly.</a:t>
            </a:r>
          </a:p>
        </p:txBody>
      </p:sp>
      <p:pic>
        <p:nvPicPr>
          <p:cNvPr id="20" name="Picture 19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4" y="1965960"/>
            <a:ext cx="2359152" cy="3246120"/>
          </a:xfrm>
          <a:prstGeom prst="rect">
            <a:avLst/>
          </a:prstGeom>
        </p:spPr>
      </p:pic>
      <p:sp>
        <p:nvSpPr>
          <p:cNvPr id="21" name="Oval 20"/>
          <p:cNvSpPr/>
          <p:nvPr/>
        </p:nvSpPr>
        <p:spPr>
          <a:xfrm>
            <a:off x="8412480" y="2240280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244852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798064"/>
            <a:ext cx="190195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Poppins"/>
              </a:rPr>
              <a:t>Build a Modular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447288"/>
            <a:ext cx="190195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Inter"/>
              </a:rPr>
              <a:t>Use reusable functions, input validation, readable output, and a console-based menu structure.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Inter"/>
              </a:rPr>
              <a:t>School of Computer Science &amp; Engineering  •  IILM University, Greater Noida, U.P.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6072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Poppins"/>
              </a:rPr>
              <a:t>Technologies &amp; AI Toolchain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78992"/>
            <a:ext cx="105156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65960"/>
            <a:ext cx="2359152" cy="324612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86384" y="2240280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244852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761488"/>
            <a:ext cx="19019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Poppins"/>
              </a:rPr>
              <a:t>C++17 &amp; STL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383280"/>
            <a:ext cx="190195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334155"/>
                </a:solidFill>
                <a:latin typeface="Inter"/>
              </a:rPr>
              <a:t>iostream, vector, algorithm, cmath, string, iomanip, and map keep the implementation self-contained.</a:t>
            </a:r>
          </a:p>
        </p:txBody>
      </p:sp>
      <p:pic>
        <p:nvPicPr>
          <p:cNvPr id="10" name="Picture 9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816" y="1965960"/>
            <a:ext cx="2359152" cy="324612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3319272" y="2240280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2244852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9272" y="2761488"/>
            <a:ext cx="19019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Poppins"/>
              </a:rPr>
              <a:t>k-NN Classifier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3383280"/>
            <a:ext cx="190195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334155"/>
                </a:solidFill>
                <a:latin typeface="Inter"/>
              </a:rPr>
              <a:t>Supervised learning with k=3, Euclidean distance, sorting, and majority voting.</a:t>
            </a:r>
          </a:p>
        </p:txBody>
      </p:sp>
      <p:pic>
        <p:nvPicPr>
          <p:cNvPr id="15" name="Picture 14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965960"/>
            <a:ext cx="2359152" cy="324612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5870448" y="2240280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0448" y="2244852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2761488"/>
            <a:ext cx="19019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Poppins"/>
              </a:rPr>
              <a:t>Data 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0448" y="3383280"/>
            <a:ext cx="190195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334155"/>
                </a:solidFill>
                <a:latin typeface="Inter"/>
              </a:rPr>
              <a:t>Min-max normalization ensures percentages and study hours are comparable during distance calculations.</a:t>
            </a:r>
          </a:p>
        </p:txBody>
      </p:sp>
      <p:pic>
        <p:nvPicPr>
          <p:cNvPr id="20" name="Picture 19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4" y="1965960"/>
            <a:ext cx="2359152" cy="3246120"/>
          </a:xfrm>
          <a:prstGeom prst="rect">
            <a:avLst/>
          </a:prstGeom>
        </p:spPr>
      </p:pic>
      <p:sp>
        <p:nvSpPr>
          <p:cNvPr id="21" name="Oval 20"/>
          <p:cNvSpPr/>
          <p:nvPr/>
        </p:nvSpPr>
        <p:spPr>
          <a:xfrm>
            <a:off x="8412480" y="2240280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244852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761488"/>
            <a:ext cx="19019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Poppins"/>
              </a:rPr>
              <a:t>Development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383280"/>
            <a:ext cx="190195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334155"/>
                </a:solidFill>
                <a:latin typeface="Inter"/>
              </a:rPr>
              <a:t>Visual Studio Code / Code::Blocks with any C++17 compiler; menu-driven console interface.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5321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Inter"/>
              </a:rPr>
              <a:t>Key design choice: no external ML library is required; the learning logic is implemented transparently in C++.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Inter"/>
              </a:rPr>
              <a:t>School of Computer Science &amp; Engineering  •  IILM University, Greater Noida, U.P.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6072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Poppins"/>
              </a:rPr>
              <a:t>Sample Training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78992"/>
            <a:ext cx="105156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783080"/>
          <a:ext cx="10332719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874519"/>
                <a:gridCol w="1965960"/>
                <a:gridCol w="2057400"/>
                <a:gridCol w="2468880"/>
              </a:tblGrid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Inter"/>
                        </a:rPr>
                        <a:t>Attendance %</a:t>
                      </a:r>
                    </a:p>
                  </a:txBody>
                  <a:tcPr marL="73152" marR="73152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Inter"/>
                        </a:rPr>
                        <a:t>Study Hours</a:t>
                      </a:r>
                    </a:p>
                  </a:txBody>
                  <a:tcPr marL="73152" marR="73152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Inter"/>
                        </a:rPr>
                        <a:t>Prev. Marks</a:t>
                      </a:r>
                    </a:p>
                  </a:txBody>
                  <a:tcPr marL="73152" marR="73152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Inter"/>
                        </a:rPr>
                        <a:t>Assignments %</a:t>
                      </a:r>
                    </a:p>
                  </a:txBody>
                  <a:tcPr marL="73152" marR="73152" marT="36576" marB="36576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Inter"/>
                        </a:rPr>
                        <a:t>Class</a:t>
                      </a:r>
                    </a:p>
                  </a:txBody>
                  <a:tcPr marL="73152" marR="73152" marT="36576" marB="36576">
                    <a:solidFill>
                      <a:srgbClr val="0F172A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45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1.0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42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50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3A8A"/>
                          </a:solidFill>
                          <a:latin typeface="Inter"/>
                        </a:rPr>
                        <a:t>Low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52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1.5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48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55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3A8A"/>
                          </a:solidFill>
                          <a:latin typeface="Inter"/>
                        </a:rPr>
                        <a:t>Low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58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2.0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54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60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3A8A"/>
                          </a:solidFill>
                          <a:latin typeface="Inter"/>
                        </a:rPr>
                        <a:t>Low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65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2.5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62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68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3A8A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70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3.0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67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72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3A8A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74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3.5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71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76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3A8A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82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4.5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78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85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3A8A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88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5.5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84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90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3A8A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94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6.5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91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Inter"/>
                        </a:rPr>
                        <a:t>96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3A8A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41832" y="601675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64748B"/>
                </a:solidFill>
                <a:latin typeface="Inter"/>
              </a:rPr>
              <a:t>Nine labelled examples are stored in memory and act as the reference set for nearest-neighbour classification.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Inter"/>
              </a:rPr>
              <a:t>School of Computer Science &amp; Engineering  •  IILM University, Greater Noida, U.P.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6072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Poppins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78992"/>
            <a:ext cx="105156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64208"/>
            <a:ext cx="425196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6112" y="1956816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Poppins"/>
              </a:rPr>
              <a:t>Processing Layers</a:t>
            </a:r>
          </a:p>
        </p:txBody>
      </p:sp>
      <p:sp>
        <p:nvSpPr>
          <p:cNvPr id="7" name="Oval 6"/>
          <p:cNvSpPr/>
          <p:nvPr/>
        </p:nvSpPr>
        <p:spPr>
          <a:xfrm>
            <a:off x="896112" y="2505456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10028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487168"/>
            <a:ext cx="3154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1">
                <a:solidFill>
                  <a:srgbClr val="0F172A"/>
                </a:solidFill>
                <a:latin typeface="Inter"/>
              </a:rPr>
              <a:t>Input: </a:t>
            </a:r>
            <a:r>
              <a:rPr sz="1080" b="0">
                <a:solidFill>
                  <a:srgbClr val="334155"/>
                </a:solidFill>
                <a:latin typeface="Inter"/>
              </a:rPr>
              <a:t>Attendance, study hours, previous marks, assignments</a:t>
            </a:r>
          </a:p>
        </p:txBody>
      </p:sp>
      <p:sp>
        <p:nvSpPr>
          <p:cNvPr id="10" name="Oval 9"/>
          <p:cNvSpPr/>
          <p:nvPr/>
        </p:nvSpPr>
        <p:spPr>
          <a:xfrm>
            <a:off x="896112" y="3172968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177540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154680"/>
            <a:ext cx="3154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1">
                <a:solidFill>
                  <a:srgbClr val="0F172A"/>
                </a:solidFill>
                <a:latin typeface="Inter"/>
              </a:rPr>
              <a:t>Preprocessing: </a:t>
            </a:r>
            <a:r>
              <a:rPr sz="1080" b="0">
                <a:solidFill>
                  <a:srgbClr val="334155"/>
                </a:solidFill>
                <a:latin typeface="Inter"/>
              </a:rPr>
              <a:t>Range validation + min-max normalization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840479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845051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822191"/>
            <a:ext cx="3154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1">
                <a:solidFill>
                  <a:srgbClr val="0F172A"/>
                </a:solidFill>
                <a:latin typeface="Inter"/>
              </a:rPr>
              <a:t>AI Classification: </a:t>
            </a:r>
            <a:r>
              <a:rPr sz="1080" b="0">
                <a:solidFill>
                  <a:srgbClr val="334155"/>
                </a:solidFill>
                <a:latin typeface="Inter"/>
              </a:rPr>
              <a:t>Euclidean distance to all training samples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4507992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512564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4489704"/>
            <a:ext cx="3154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1">
                <a:solidFill>
                  <a:srgbClr val="0F172A"/>
                </a:solidFill>
                <a:latin typeface="Inter"/>
              </a:rPr>
              <a:t>Decision: </a:t>
            </a:r>
            <a:r>
              <a:rPr sz="1080" b="0">
                <a:solidFill>
                  <a:srgbClr val="334155"/>
                </a:solidFill>
                <a:latin typeface="Inter"/>
              </a:rPr>
              <a:t>Select k=3 and use majority voting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" y="5175504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180076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5157216"/>
            <a:ext cx="3154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1">
                <a:solidFill>
                  <a:srgbClr val="0F172A"/>
                </a:solidFill>
                <a:latin typeface="Inter"/>
              </a:rPr>
              <a:t>Output: </a:t>
            </a:r>
            <a:r>
              <a:rPr sz="1080" b="0">
                <a:solidFill>
                  <a:srgbClr val="334155"/>
                </a:solidFill>
                <a:latin typeface="Inter"/>
              </a:rPr>
              <a:t>Predicted class + nearest-neighbour details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2029968"/>
            <a:ext cx="1170432" cy="841248"/>
          </a:xfrm>
          <a:prstGeom prst="roundRect">
            <a:avLst/>
          </a:prstGeom>
          <a:solidFill>
            <a:srgbClr val="EFF6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2176272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40" b="1">
                <a:solidFill>
                  <a:srgbClr val="1E3A8A"/>
                </a:solidFill>
                <a:latin typeface="Poppins"/>
              </a:rPr>
              <a:t>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478024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0" b="0">
                <a:solidFill>
                  <a:srgbClr val="334155"/>
                </a:solidFill>
                <a:latin typeface="Inter"/>
              </a:rPr>
              <a:t>4 features</a:t>
            </a:r>
          </a:p>
        </p:txBody>
      </p:sp>
      <p:sp>
        <p:nvSpPr>
          <p:cNvPr id="25" name="Chevron 24"/>
          <p:cNvSpPr/>
          <p:nvPr/>
        </p:nvSpPr>
        <p:spPr>
          <a:xfrm>
            <a:off x="6272784" y="2304288"/>
            <a:ext cx="100584" cy="237744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9944" y="2029968"/>
            <a:ext cx="1170432" cy="841248"/>
          </a:xfrm>
          <a:prstGeom prst="roundRect">
            <a:avLst/>
          </a:prstGeom>
          <a:solidFill>
            <a:srgbClr val="EFF6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5664" y="2176272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40" b="1">
                <a:solidFill>
                  <a:srgbClr val="1E3A8A"/>
                </a:solidFill>
                <a:latin typeface="Poppins"/>
              </a:rPr>
              <a:t>Normalize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2478024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0" b="0">
                <a:solidFill>
                  <a:srgbClr val="334155"/>
                </a:solidFill>
                <a:latin typeface="Inter"/>
              </a:rPr>
              <a:t>0–1 scale</a:t>
            </a:r>
          </a:p>
        </p:txBody>
      </p:sp>
      <p:sp>
        <p:nvSpPr>
          <p:cNvPr id="29" name="Chevron 28"/>
          <p:cNvSpPr/>
          <p:nvPr/>
        </p:nvSpPr>
        <p:spPr>
          <a:xfrm>
            <a:off x="7607807" y="2304288"/>
            <a:ext cx="100584" cy="237744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44967" y="2029968"/>
            <a:ext cx="1170432" cy="841248"/>
          </a:xfrm>
          <a:prstGeom prst="roundRect">
            <a:avLst/>
          </a:prstGeom>
          <a:solidFill>
            <a:srgbClr val="EFF6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0688" y="2176272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40" b="1">
                <a:solidFill>
                  <a:srgbClr val="1E3A8A"/>
                </a:solidFill>
                <a:latin typeface="Poppins"/>
              </a:rPr>
              <a:t>Distance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90688" y="2478024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0" b="0">
                <a:solidFill>
                  <a:srgbClr val="334155"/>
                </a:solidFill>
                <a:latin typeface="Inter"/>
              </a:rPr>
              <a:t>Euclidean</a:t>
            </a:r>
          </a:p>
        </p:txBody>
      </p:sp>
      <p:sp>
        <p:nvSpPr>
          <p:cNvPr id="33" name="Chevron 32"/>
          <p:cNvSpPr/>
          <p:nvPr/>
        </p:nvSpPr>
        <p:spPr>
          <a:xfrm>
            <a:off x="8942831" y="2304288"/>
            <a:ext cx="100584" cy="237744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079992" y="2029968"/>
            <a:ext cx="1170432" cy="841248"/>
          </a:xfrm>
          <a:prstGeom prst="roundRect">
            <a:avLst/>
          </a:prstGeom>
          <a:solidFill>
            <a:srgbClr val="EFF6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25712" y="2176272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40" b="1">
                <a:solidFill>
                  <a:srgbClr val="1E3A8A"/>
                </a:solidFill>
                <a:latin typeface="Poppins"/>
              </a:rPr>
              <a:t>k-NN + Vote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5712" y="2478024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0" b="0">
                <a:solidFill>
                  <a:srgbClr val="334155"/>
                </a:solidFill>
                <a:latin typeface="Inter"/>
              </a:rPr>
              <a:t>k = 3</a:t>
            </a:r>
          </a:p>
        </p:txBody>
      </p:sp>
      <p:sp>
        <p:nvSpPr>
          <p:cNvPr id="37" name="Chevron 36"/>
          <p:cNvSpPr/>
          <p:nvPr/>
        </p:nvSpPr>
        <p:spPr>
          <a:xfrm>
            <a:off x="10277855" y="2304288"/>
            <a:ext cx="100584" cy="237744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415016" y="2029968"/>
            <a:ext cx="1170432" cy="841248"/>
          </a:xfrm>
          <a:prstGeom prst="roundRect">
            <a:avLst/>
          </a:prstGeom>
          <a:solidFill>
            <a:srgbClr val="DBEAFE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60736" y="2176272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40" b="1">
                <a:solidFill>
                  <a:srgbClr val="1E3A8A"/>
                </a:solidFill>
                <a:latin typeface="Poppins"/>
              </a:rPr>
              <a:t>Predict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0736" y="2478024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0" b="0">
                <a:solidFill>
                  <a:srgbClr val="334155"/>
                </a:solidFill>
                <a:latin typeface="Inter"/>
              </a:rPr>
              <a:t>Low / Med / High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30368" y="3291840"/>
            <a:ext cx="5925312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0" y="3511296"/>
            <a:ext cx="5394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Poppins"/>
              </a:rPr>
              <a:t>Min–max normalization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3822191"/>
            <a:ext cx="5394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Consolas"/>
              </a:rPr>
              <a:t>normalized = (x − min) / (max − min)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4233672"/>
            <a:ext cx="5394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Inter"/>
              </a:rPr>
              <a:t>Then calculate Euclidean distance across the four normalized features.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57800" y="4983480"/>
            <a:ext cx="5852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E7490"/>
                </a:solidFill>
                <a:latin typeface="Inter"/>
              </a:rPr>
              <a:t>Why normalize? Attendance and marks are percentages, while study hours use a much smaller numeric range.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Inter"/>
              </a:rPr>
              <a:t>School of Computer Science &amp; Engineering  •  IILM University, Greater Noida, U.P.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6072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Poppins"/>
              </a:rPr>
              <a:t>k-NN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78992"/>
            <a:ext cx="105156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3685032"/>
            <a:ext cx="1046988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3429000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65576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Poppins"/>
              </a:rPr>
              <a:t>1</a:t>
            </a:r>
          </a:p>
        </p:txBody>
      </p:sp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856231"/>
            <a:ext cx="1627632" cy="1234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202082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E3A8A"/>
                </a:solidFill>
                <a:latin typeface="Poppins"/>
              </a:rPr>
              <a:t>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68296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334155"/>
                </a:solidFill>
                <a:latin typeface="Inter"/>
              </a:rPr>
              <a:t>Read four inputs and verify their ranges.</a:t>
            </a:r>
          </a:p>
        </p:txBody>
      </p:sp>
      <p:sp>
        <p:nvSpPr>
          <p:cNvPr id="11" name="Oval 10"/>
          <p:cNvSpPr/>
          <p:nvPr/>
        </p:nvSpPr>
        <p:spPr>
          <a:xfrm>
            <a:off x="2560320" y="3429000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465576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Poppins"/>
              </a:rPr>
              <a:t>2</a:t>
            </a:r>
          </a:p>
        </p:txBody>
      </p:sp>
      <p:pic>
        <p:nvPicPr>
          <p:cNvPr id="13" name="Picture 1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863" y="4023360"/>
            <a:ext cx="1627632" cy="12344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87168" y="4187952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E3A8A"/>
                </a:solidFill>
                <a:latin typeface="Poppins"/>
              </a:rPr>
              <a:t>Normalize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4535424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334155"/>
                </a:solidFill>
                <a:latin typeface="Inter"/>
              </a:rPr>
              <a:t>Convert each feature to a 0–1 scale.</a:t>
            </a:r>
          </a:p>
        </p:txBody>
      </p:sp>
      <p:sp>
        <p:nvSpPr>
          <p:cNvPr id="16" name="Oval 15"/>
          <p:cNvSpPr/>
          <p:nvPr/>
        </p:nvSpPr>
        <p:spPr>
          <a:xfrm>
            <a:off x="4389120" y="3429000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3465576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Poppins"/>
              </a:rPr>
              <a:t>3</a:t>
            </a:r>
          </a:p>
        </p:txBody>
      </p:sp>
      <p:pic>
        <p:nvPicPr>
          <p:cNvPr id="18" name="Picture 17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663" y="1856231"/>
            <a:ext cx="1627632" cy="12344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315968" y="202082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E3A8A"/>
                </a:solidFill>
                <a:latin typeface="Poppins"/>
              </a:rPr>
              <a:t>Compare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2368296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334155"/>
                </a:solidFill>
                <a:latin typeface="Inter"/>
              </a:rPr>
              <a:t>Compute Euclidean distance to each sample.</a:t>
            </a:r>
          </a:p>
        </p:txBody>
      </p:sp>
      <p:sp>
        <p:nvSpPr>
          <p:cNvPr id="21" name="Oval 20"/>
          <p:cNvSpPr/>
          <p:nvPr/>
        </p:nvSpPr>
        <p:spPr>
          <a:xfrm>
            <a:off x="6217920" y="3429000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465576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Poppins"/>
              </a:rPr>
              <a:t>4</a:t>
            </a:r>
          </a:p>
        </p:txBody>
      </p:sp>
      <p:pic>
        <p:nvPicPr>
          <p:cNvPr id="23" name="Picture 2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4" y="4023360"/>
            <a:ext cx="1627632" cy="12344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144768" y="4187952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E3A8A"/>
                </a:solidFill>
                <a:latin typeface="Poppins"/>
              </a:rPr>
              <a:t>Select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4535424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334155"/>
                </a:solidFill>
                <a:latin typeface="Inter"/>
              </a:rPr>
              <a:t>Sort and keep the three nearest neighbours.</a:t>
            </a:r>
          </a:p>
        </p:txBody>
      </p:sp>
      <p:sp>
        <p:nvSpPr>
          <p:cNvPr id="26" name="Oval 25"/>
          <p:cNvSpPr/>
          <p:nvPr/>
        </p:nvSpPr>
        <p:spPr>
          <a:xfrm>
            <a:off x="8046720" y="3429000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3465576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Poppins"/>
              </a:rPr>
              <a:t>5</a:t>
            </a:r>
          </a:p>
        </p:txBody>
      </p:sp>
      <p:pic>
        <p:nvPicPr>
          <p:cNvPr id="28" name="Picture 27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4" y="1856231"/>
            <a:ext cx="1627632" cy="12344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973568" y="202082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E3A8A"/>
                </a:solidFill>
                <a:latin typeface="Poppins"/>
              </a:rPr>
              <a:t>Vote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3568" y="2368296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334155"/>
                </a:solidFill>
                <a:latin typeface="Inter"/>
              </a:rPr>
              <a:t>Count Low / Medium / High labels.</a:t>
            </a:r>
          </a:p>
        </p:txBody>
      </p:sp>
      <p:sp>
        <p:nvSpPr>
          <p:cNvPr id="31" name="Oval 30"/>
          <p:cNvSpPr/>
          <p:nvPr/>
        </p:nvSpPr>
        <p:spPr>
          <a:xfrm>
            <a:off x="9875520" y="3429000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0" y="3465576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Poppins"/>
              </a:rPr>
              <a:t>6</a:t>
            </a:r>
          </a:p>
        </p:txBody>
      </p:sp>
      <p:pic>
        <p:nvPicPr>
          <p:cNvPr id="33" name="Picture 3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4023360"/>
            <a:ext cx="1627632" cy="123444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802368" y="4187952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E3A8A"/>
                </a:solidFill>
                <a:latin typeface="Poppins"/>
              </a:rPr>
              <a:t>Explain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2368" y="4535424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334155"/>
                </a:solidFill>
                <a:latin typeface="Inter"/>
              </a:rPr>
              <a:t>Show the predicted class and neighbours.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815584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30" b="1">
                <a:solidFill>
                  <a:srgbClr val="0E7490"/>
                </a:solidFill>
                <a:latin typeface="Inter"/>
              </a:rPr>
              <a:t>The project uses k = 3, so the predicted label is the majority class among the three closest labelled records.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Inter"/>
              </a:rPr>
              <a:t>School of Computer Science &amp; Engineering  •  IILM University, Greater Noida, U.P.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6072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Poppins"/>
              </a:rPr>
              <a:t>C++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78992"/>
            <a:ext cx="105156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6629400" cy="4498848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01952"/>
            <a:ext cx="6053328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60" b="0">
                <a:solidFill>
                  <a:srgbClr val="E2E8F0"/>
                </a:solidFill>
                <a:latin typeface="Consolas"/>
              </a:rPr>
              <a:t>struct Student {
    double attendance, studyHours;
    double previousMarks, assignments;
    string label;
};
double normalize(double x, double minV, double maxV) {
    return (maxV == minV) ? 0.0 :
           (x - minV) / (maxV - minV);
}
// Calculate distances, sort neighbours,
// then use majority voting for k = 3.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383" y="1737360"/>
            <a:ext cx="3749039" cy="12618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36992" y="1993392"/>
            <a:ext cx="316382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Data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36992" y="2340864"/>
            <a:ext cx="316382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Inter"/>
              </a:rPr>
              <a:t>Student structure stores four features plus the labelled performance class.</a:t>
            </a:r>
          </a:p>
        </p:txBody>
      </p:sp>
      <p:pic>
        <p:nvPicPr>
          <p:cNvPr id="10" name="Picture 9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383" y="3218688"/>
            <a:ext cx="3749039" cy="12618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36992" y="3474720"/>
            <a:ext cx="316382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Reusable Functions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3822191"/>
            <a:ext cx="316382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Inter"/>
              </a:rPr>
              <a:t>Separate functions handle normalization, distance calculation, prediction, and input validation.</a:t>
            </a:r>
          </a:p>
        </p:txBody>
      </p:sp>
      <p:pic>
        <p:nvPicPr>
          <p:cNvPr id="13" name="Picture 1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383" y="4700016"/>
            <a:ext cx="3749039" cy="12618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36992" y="4956048"/>
            <a:ext cx="316382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Poppins"/>
              </a:rPr>
              <a:t>Transparent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6992" y="5303520"/>
            <a:ext cx="316382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Inter"/>
              </a:rPr>
              <a:t>The console prints nearest-neighbour distances so the prediction can be traced and explained.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Inter"/>
              </a:rPr>
              <a:t>School of Computer Science &amp; Engineering  •  IILM University, Greater Noida, U.P.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6072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Poppins"/>
              </a:rPr>
              <a:t>Testing &amp; Sample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78992"/>
            <a:ext cx="105156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64208"/>
            <a:ext cx="5779008" cy="44348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257800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onsolas"/>
              </a:rPr>
              <a:t>=== AI-Based Student Performance Predictor ===
Attendance (0-100): 79
Daily study hours (0-12): 4.2
Previous marks (0-100): 76
Assignments completed % (0-100): 82
Nearest neighbours:
1. High    distance=0.143
2. Medium  distance=0.181
3. High    distance=0.304
Predicted Performance Category: 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1755648"/>
            <a:ext cx="4526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E3A8A"/>
                </a:solidFill>
                <a:latin typeface="Poppins"/>
              </a:rPr>
              <a:t>Representative Test Cases</a:t>
            </a:r>
          </a:p>
        </p:txBody>
      </p:sp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2395728"/>
            <a:ext cx="4343400" cy="8321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59168" y="2542032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334155"/>
                </a:solidFill>
                <a:latin typeface="Inter"/>
              </a:rPr>
              <a:t>Input: 86 / 5.0 / 82 / 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93808" y="2542032"/>
            <a:ext cx="95097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40" b="1">
                <a:solidFill>
                  <a:srgbClr val="FFFFFF"/>
                </a:solidFill>
                <a:latin typeface="Poppins"/>
              </a:rPr>
              <a:t>High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57232" y="2505456"/>
            <a:ext cx="1024128" cy="3017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57232" y="2514600"/>
            <a:ext cx="1024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oppins"/>
              </a:rPr>
              <a:t>High</a:t>
            </a:r>
          </a:p>
        </p:txBody>
      </p:sp>
      <p:pic>
        <p:nvPicPr>
          <p:cNvPr id="13" name="Picture 1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3438144"/>
            <a:ext cx="4343400" cy="8321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59168" y="3584448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334155"/>
                </a:solidFill>
                <a:latin typeface="Inter"/>
              </a:rPr>
              <a:t>Input: 69 / 3.0 / 66 / 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93808" y="3584448"/>
            <a:ext cx="95097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40" b="1">
                <a:solidFill>
                  <a:srgbClr val="FFFFFF"/>
                </a:solidFill>
                <a:latin typeface="Poppins"/>
              </a:rPr>
              <a:t>Medium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57232" y="3547872"/>
            <a:ext cx="1024128" cy="30175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57232" y="3557015"/>
            <a:ext cx="1024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oppins"/>
              </a:rPr>
              <a:t>Medium</a:t>
            </a:r>
          </a:p>
        </p:txBody>
      </p:sp>
      <p:pic>
        <p:nvPicPr>
          <p:cNvPr id="18" name="Picture 17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480560"/>
            <a:ext cx="4343400" cy="8321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59168" y="4626864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334155"/>
                </a:solidFill>
                <a:latin typeface="Inter"/>
              </a:rPr>
              <a:t>Input: 50 / 1.3 / 46 / 54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93808" y="4626864"/>
            <a:ext cx="95097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40" b="1">
                <a:solidFill>
                  <a:srgbClr val="FFFFFF"/>
                </a:solidFill>
                <a:latin typeface="Poppins"/>
              </a:rPr>
              <a:t>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57232" y="4590288"/>
            <a:ext cx="1024128" cy="30175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57232" y="4599432"/>
            <a:ext cx="1024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oppins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1424" y="5641848"/>
            <a:ext cx="4297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Inter"/>
              </a:rPr>
              <a:t>Test outputs are intended for demonstration and learning, not official academic decisions.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Inter"/>
              </a:rPr>
              <a:t>School of Computer Science &amp; Engineering  •  IILM University, Greater Noida, U.P.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6072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F172A"/>
                </a:solidFill>
                <a:latin typeface="Poppins"/>
              </a:rPr>
              <a:t>Expected Outcomes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078992"/>
            <a:ext cx="105156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783080"/>
            <a:ext cx="5230368" cy="4315968"/>
          </a:xfrm>
          <a:prstGeom prst="rect">
            <a:avLst/>
          </a:prstGeom>
        </p:spPr>
      </p:pic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1783080"/>
            <a:ext cx="5230368" cy="43159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2084831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>
                <a:solidFill>
                  <a:srgbClr val="1E3A8A"/>
                </a:solidFill>
                <a:latin typeface="Poppins"/>
              </a:rPr>
              <a:t>Expected Learning Outcomes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679192"/>
            <a:ext cx="301752" cy="30175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683764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642616"/>
            <a:ext cx="4160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334155"/>
                </a:solidFill>
                <a:latin typeface="Inter"/>
              </a:rPr>
              <a:t>Understand a complete classification flow: data → preprocessing → distance → voting → output.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3337560"/>
            <a:ext cx="301752" cy="30175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342132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3300984"/>
            <a:ext cx="4160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334155"/>
                </a:solidFill>
                <a:latin typeface="Inter"/>
              </a:rPr>
              <a:t>Practice C++ structures, vectors, maps, sorting, functions, loops, and input validation.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3995928"/>
            <a:ext cx="301752" cy="30175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000500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3959352"/>
            <a:ext cx="4160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334155"/>
                </a:solidFill>
                <a:latin typeface="Inter"/>
              </a:rPr>
              <a:t>Explain why feature scaling matters for distance-based algorithms.</a:t>
            </a:r>
          </a:p>
        </p:txBody>
      </p:sp>
      <p:sp>
        <p:nvSpPr>
          <p:cNvPr id="17" name="Oval 16"/>
          <p:cNvSpPr/>
          <p:nvPr/>
        </p:nvSpPr>
        <p:spPr>
          <a:xfrm>
            <a:off x="932688" y="4654296"/>
            <a:ext cx="301752" cy="30175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658868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4617720"/>
            <a:ext cx="41605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334155"/>
                </a:solidFill>
                <a:latin typeface="Inter"/>
              </a:rPr>
              <a:t>Interpret an AI prediction through its nearest records instead of a black-box result.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2084831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>
                <a:solidFill>
                  <a:srgbClr val="1E3A8A"/>
                </a:solidFill>
                <a:latin typeface="Poppins"/>
              </a:rPr>
              <a:t>Future Scope</a:t>
            </a:r>
          </a:p>
        </p:txBody>
      </p:sp>
      <p:sp>
        <p:nvSpPr>
          <p:cNvPr id="21" name="Oval 20"/>
          <p:cNvSpPr/>
          <p:nvPr/>
        </p:nvSpPr>
        <p:spPr>
          <a:xfrm>
            <a:off x="6757416" y="2679192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57416" y="2683764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2642616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>
                <a:solidFill>
                  <a:srgbClr val="334155"/>
                </a:solidFill>
                <a:latin typeface="Inter"/>
              </a:rPr>
              <a:t>Read larger datasets from CSV files or a database.</a:t>
            </a:r>
          </a:p>
        </p:txBody>
      </p:sp>
      <p:sp>
        <p:nvSpPr>
          <p:cNvPr id="24" name="Oval 23"/>
          <p:cNvSpPr/>
          <p:nvPr/>
        </p:nvSpPr>
        <p:spPr>
          <a:xfrm>
            <a:off x="6757416" y="3246120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57416" y="3250692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9752" y="3209544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>
                <a:solidFill>
                  <a:srgbClr val="334155"/>
                </a:solidFill>
                <a:latin typeface="Inter"/>
              </a:rPr>
              <a:t>Use weighted k-NN and automatically select k through validation.</a:t>
            </a:r>
          </a:p>
        </p:txBody>
      </p:sp>
      <p:sp>
        <p:nvSpPr>
          <p:cNvPr id="27" name="Oval 26"/>
          <p:cNvSpPr/>
          <p:nvPr/>
        </p:nvSpPr>
        <p:spPr>
          <a:xfrm>
            <a:off x="6757416" y="3813048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57416" y="3817620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9752" y="3776472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>
                <a:solidFill>
                  <a:srgbClr val="334155"/>
                </a:solidFill>
                <a:latin typeface="Inter"/>
              </a:rPr>
              <a:t>Add quiz scores, backlog count, and other academic indicators.</a:t>
            </a:r>
          </a:p>
        </p:txBody>
      </p:sp>
      <p:sp>
        <p:nvSpPr>
          <p:cNvPr id="30" name="Oval 29"/>
          <p:cNvSpPr/>
          <p:nvPr/>
        </p:nvSpPr>
        <p:spPr>
          <a:xfrm>
            <a:off x="6757416" y="4379976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57416" y="4384548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9752" y="4343400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>
                <a:solidFill>
                  <a:srgbClr val="334155"/>
                </a:solidFill>
                <a:latin typeface="Inter"/>
              </a:rPr>
              <a:t>Evaluate accuracy with train-test splits and compare other models.</a:t>
            </a:r>
          </a:p>
        </p:txBody>
      </p:sp>
      <p:sp>
        <p:nvSpPr>
          <p:cNvPr id="33" name="Oval 32"/>
          <p:cNvSpPr/>
          <p:nvPr/>
        </p:nvSpPr>
        <p:spPr>
          <a:xfrm>
            <a:off x="6757416" y="4946904"/>
            <a:ext cx="301752" cy="3017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57416" y="4951476"/>
            <a:ext cx="30175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9752" y="4910328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40" b="0">
                <a:solidFill>
                  <a:srgbClr val="334155"/>
                </a:solidFill>
                <a:latin typeface="Inter"/>
              </a:rPr>
              <a:t>Connect the engine to a Qt UI, web API, or campus dashboard.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Inter"/>
              </a:rPr>
              <a:t>School of Computer Science &amp; Engineering  •  IILM University, Greater Noida, U.P.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508760"/>
            <a:ext cx="6629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>
                <a:solidFill>
                  <a:srgbClr val="0F172A"/>
                </a:solidFill>
                <a:latin typeface="Poppins"/>
              </a:rPr>
              <a:t>Thank You!</a:t>
            </a:r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3063240"/>
            <a:ext cx="8183879" cy="1783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50592" y="340156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E3A8A"/>
                </a:solidFill>
                <a:latin typeface="Poppins"/>
              </a:rPr>
              <a:t>HARSHIT SONI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50592" y="3803904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334155"/>
                </a:solidFill>
                <a:latin typeface="Inter"/>
              </a:rPr>
              <a:t>Roll No: 25SCS1003004693</a:t>
            </a:r>
          </a:p>
        </p:txBody>
      </p:sp>
      <p:sp>
        <p:nvSpPr>
          <p:cNvPr id="7" name="Rectangle 6"/>
          <p:cNvSpPr/>
          <p:nvPr/>
        </p:nvSpPr>
        <p:spPr>
          <a:xfrm>
            <a:off x="5833872" y="3474720"/>
            <a:ext cx="18288" cy="7132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9632" y="3401568"/>
            <a:ext cx="34930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30" b="1">
                <a:solidFill>
                  <a:srgbClr val="0F172A"/>
                </a:solidFill>
                <a:latin typeface="Poppins"/>
              </a:rPr>
              <a:t>AI-Based Student Performance Predictor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9632" y="3803904"/>
            <a:ext cx="34930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334155"/>
                </a:solidFill>
                <a:latin typeface="Inter"/>
              </a:rPr>
              <a:t>C++17 • k-NN • Artificial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39496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E3A8A"/>
                </a:solidFill>
                <a:latin typeface="Poppins"/>
              </a:rPr>
              <a:t>School of Computer Science &amp;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57332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Inter"/>
              </a:rPr>
              <a:t>IILM University, Greater Noida, U.P.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